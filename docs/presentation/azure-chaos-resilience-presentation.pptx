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4-2.svg" ContentType="image/svg+xml"/>
  <Override PartName="/ppt/media/image-14-4.svg" ContentType="image/svg+xml"/>
  <Override PartName="/ppt/media/image-14-6.svg" ContentType="image/svg+xml"/>
  <Override PartName="/ppt/media/image-14-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embeddedFontLst>
    <p:embeddedFont>
      <p:font typeface="Mona Sans Bold"/>
      <p:regular r:id="rId201314"/>
    </p:embeddedFont>
    <p:embeddedFont>
      <p:font typeface="Mona Sans"/>
      <p:regular r:id="rId201315"/>
    </p:embeddedFont>
    <p:embeddedFont>
      <p:font typeface="Mona Sans Semi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image" Target="../media/image-1002-2.jpeg"/><Relationship Id="rId3" Type="http://schemas.openxmlformats.org/officeDocument/2006/relationships/image" Target="../media/image-1002-3.png"/><Relationship Id="rId4" Type="http://schemas.openxmlformats.org/officeDocument/2006/relationships/hyperlink" Target="https://gamma.app/?utm_source=made-with-gamma" TargetMode="External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86064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318048"/>
            <a:ext cx="10868745" cy="446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900" spc="-59" kern="0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Azure Chaos Studio Resilience Experiment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61475" y="2818209"/>
            <a:ext cx="10868745" cy="357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00" spc="-47" kern="0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P087 | Resilience Engineering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661475" y="3376414"/>
            <a:ext cx="10868745" cy="1243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1000"/>
              </a:lnSpc>
              <a:spcAft>
                <a:spcPts val="1150"/>
              </a:spcAft>
              <a:buNone/>
            </a:pPr>
            <a:r>
              <a:rPr lang="en-US" sz="1150" spc="-12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Team T087</a:t>
            </a:r>
            <a:endParaRPr lang="en-US" sz="1150" dirty="0"/>
          </a:p>
          <a:p>
            <a:pPr algn="ctr" indent="0" marL="0">
              <a:lnSpc>
                <a:spcPct val="111000"/>
              </a:lnSpc>
              <a:spcAft>
                <a:spcPts val="1150"/>
              </a:spcAft>
              <a:buNone/>
            </a:pPr>
            <a:r>
              <a:rPr lang="en-US" sz="1150" spc="-12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Skill Palaver Hackathon — Slot 1</a:t>
            </a:r>
            <a:endParaRPr lang="en-US" sz="1150" dirty="0"/>
          </a:p>
          <a:p>
            <a:pPr algn="ctr" indent="0" marL="0">
              <a:lnSpc>
                <a:spcPct val="111000"/>
              </a:lnSpc>
              <a:spcAft>
                <a:spcPts val="1150"/>
              </a:spcAft>
              <a:buNone/>
            </a:pPr>
            <a:r>
              <a:rPr lang="en-US" sz="1150" spc="-12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Course: 24CC3046 — Microsoft Certified: Azure Administrator Associate</a:t>
            </a:r>
            <a:endParaRPr lang="en-US" sz="1150" dirty="0"/>
          </a:p>
          <a:p>
            <a:pPr algn="ctr" indent="0" marL="0">
              <a:lnSpc>
                <a:spcPct val="111000"/>
              </a:lnSpc>
              <a:buNone/>
            </a:pPr>
            <a:r>
              <a:rPr lang="en-US" sz="1150" b="1" spc="-12" kern="0" dirty="0">
                <a:solidFill>
                  <a:srgbClr val="30303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Team Members: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61475" y="4771033"/>
            <a:ext cx="10868745" cy="932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11000"/>
              </a:lnSpc>
              <a:buSzPct val="100000"/>
              <a:buChar char="•"/>
            </a:pPr>
            <a:r>
              <a:rPr lang="en-US" sz="1150" spc="-12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Gurrala Hareesh Reddy (2400090155) — Team Lead</a:t>
            </a:r>
            <a:endParaRPr lang="en-US" sz="1150" dirty="0"/>
          </a:p>
          <a:p>
            <a:pPr algn="l" marL="233680" indent="-233680">
              <a:lnSpc>
                <a:spcPct val="111000"/>
              </a:lnSpc>
              <a:buSzPct val="100000"/>
              <a:buChar char="•"/>
            </a:pPr>
            <a:r>
              <a:rPr lang="en-US" sz="1150" spc="-12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Namathoti Nandu (2400090190)</a:t>
            </a:r>
            <a:endParaRPr lang="en-US" sz="1150" dirty="0"/>
          </a:p>
          <a:p>
            <a:pPr algn="l" marL="233680" indent="-233680">
              <a:lnSpc>
                <a:spcPct val="111000"/>
              </a:lnSpc>
              <a:buSzPct val="100000"/>
              <a:buChar char="•"/>
            </a:pPr>
            <a:r>
              <a:rPr lang="en-US" sz="1150" spc="-12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Alamalakala Sneha (2400090174)</a:t>
            </a:r>
            <a:endParaRPr lang="en-US" sz="1150" dirty="0"/>
          </a:p>
          <a:p>
            <a:pPr algn="l" marL="233680" indent="-233680">
              <a:lnSpc>
                <a:spcPct val="111000"/>
              </a:lnSpc>
              <a:buSzPct val="100000"/>
              <a:buChar char="•"/>
            </a:pPr>
            <a:r>
              <a:rPr lang="en-US" sz="1150" spc="-12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Rao Rupesh Sai (2400090150)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56682" y="5854005"/>
            <a:ext cx="11478330" cy="197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1150" spc="-12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Room: R507A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5929"/>
            <a:ext cx="10868745" cy="496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50" spc="-65" kern="0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Problem Statement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432719"/>
            <a:ext cx="10868745" cy="1099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17000"/>
              </a:lnSpc>
              <a:buSzPct val="100000"/>
              <a:buChar char="•"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Modern cloud applications must remain available during infrastructure failures</a:t>
            </a:r>
            <a:endParaRPr lang="en-US" sz="1300" dirty="0"/>
          </a:p>
          <a:p>
            <a:pPr algn="l" marL="264160" indent="-264160">
              <a:lnSpc>
                <a:spcPct val="117000"/>
              </a:lnSpc>
              <a:buSzPct val="100000"/>
              <a:buChar char="•"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Challenge: Validate multi-zone architecture under zone-associated failure</a:t>
            </a:r>
            <a:endParaRPr lang="en-US" sz="1300" dirty="0"/>
          </a:p>
          <a:p>
            <a:pPr algn="l" marL="264160" indent="-264160">
              <a:lnSpc>
                <a:spcPct val="117000"/>
              </a:lnSpc>
              <a:buSzPct val="100000"/>
              <a:buChar char="•"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Use cases: Inject zone failure, produce recovery evidence</a:t>
            </a:r>
            <a:endParaRPr lang="en-US" sz="1300" dirty="0"/>
          </a:p>
          <a:p>
            <a:pPr algn="l" marL="264160" indent="-264160">
              <a:lnSpc>
                <a:spcPct val="117000"/>
              </a:lnSpc>
              <a:buSzPct val="100000"/>
              <a:buChar char="•"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Bottlenecks: Blast radius control, permissions setup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4903" y="2718197"/>
            <a:ext cx="9761789" cy="35338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31494" y="5395566"/>
            <a:ext cx="2445424" cy="293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spc="-39" kern="0" dirty="0">
                <a:solidFill>
                  <a:srgbClr val="00000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Service Continuity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931494" y="4330422"/>
            <a:ext cx="2445424" cy="293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spc="-39" kern="0" dirty="0">
                <a:solidFill>
                  <a:srgbClr val="00000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Load Balancer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931494" y="3254408"/>
            <a:ext cx="2445424" cy="293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spc="-39" kern="0" dirty="0">
                <a:solidFill>
                  <a:srgbClr val="00000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Failure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14128"/>
            <a:ext cx="10868745" cy="496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50" spc="-65" kern="0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Project Objectives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740918"/>
            <a:ext cx="10868745" cy="1388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Build multi-zone Azure workload</a:t>
            </a:r>
            <a:endParaRPr lang="en-US" sz="1300" dirty="0"/>
          </a:p>
          <a:p>
            <a:pPr algn="l" marL="264160" indent="-26416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Place behind Load Balancer</a:t>
            </a:r>
            <a:endParaRPr lang="en-US" sz="1300" dirty="0"/>
          </a:p>
          <a:p>
            <a:pPr algn="l" marL="264160" indent="-26416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Prepare VMSS as Chaos Studio target</a:t>
            </a:r>
            <a:endParaRPr lang="en-US" sz="1300" dirty="0"/>
          </a:p>
          <a:p>
            <a:pPr algn="l" marL="264160" indent="-264160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Design controlled VMSS shutdown experiment</a:t>
            </a:r>
            <a:endParaRPr lang="en-US" sz="1300" dirty="0"/>
          </a:p>
          <a:p>
            <a:pPr algn="l" marL="264160" indent="-264160">
              <a:lnSpc>
                <a:spcPct val="117000"/>
              </a:lnSpc>
              <a:buSzPct val="100000"/>
              <a:buFont typeface="+mj-lt"/>
              <a:buAutoNum type="arabicPeriod" startAt="5"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Measure service behavior during failure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4315718"/>
            <a:ext cx="10868745" cy="628154"/>
          </a:xfrm>
          <a:prstGeom prst="roundRect">
            <a:avLst>
              <a:gd name="adj" fmla="val 23697"/>
            </a:avLst>
          </a:prstGeom>
          <a:solidFill>
            <a:srgbClr val="D3EAF8"/>
          </a:solidFill>
          <a:ln/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769" y="4536380"/>
            <a:ext cx="206667" cy="1652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98731" y="4522291"/>
            <a:ext cx="10775780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spc="-13" kern="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Success evidence: HTTP availability, instance state, and recovery state.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6193"/>
            <a:ext cx="10868745" cy="471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50" spc="-62" kern="0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Our Approach</a:t>
            </a:r>
            <a:endParaRPr lang="en-US" sz="3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265932"/>
            <a:ext cx="785594" cy="9426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96291" y="1422995"/>
            <a:ext cx="993393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spc="-31" kern="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Step 1: Deploy multi-zone VMSS</a:t>
            </a:r>
            <a:endParaRPr lang="en-US" sz="15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208609"/>
            <a:ext cx="785594" cy="94267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96291" y="2365673"/>
            <a:ext cx="993393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spc="-31" kern="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Step 2: Configure Load Balancer + health probe</a:t>
            </a:r>
            <a:endParaRPr lang="en-US" sz="15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151287"/>
            <a:ext cx="785594" cy="94267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96291" y="3308350"/>
            <a:ext cx="993393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spc="-31" kern="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Step 3: Deploy Nginx HTTP workload</a:t>
            </a:r>
            <a:endParaRPr lang="en-US" sz="15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4093964"/>
            <a:ext cx="785594" cy="94267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596291" y="4251027"/>
            <a:ext cx="993393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spc="-31" kern="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Step 4: Onboard VMSS to Chaos Studio</a:t>
            </a:r>
            <a:endParaRPr lang="en-US" sz="15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5036641"/>
            <a:ext cx="785594" cy="942677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596291" y="5193705"/>
            <a:ext cx="993393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spc="-31" kern="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Step 5: Validate failure/recovery behavior</a:t>
            </a:r>
            <a:endParaRPr lang="en-US" sz="1500" dirty="0"/>
          </a:p>
        </p:txBody>
      </p:sp>
      <p:sp>
        <p:nvSpPr>
          <p:cNvPr id="13" name="Text 6"/>
          <p:cNvSpPr/>
          <p:nvPr/>
        </p:nvSpPr>
        <p:spPr>
          <a:xfrm>
            <a:off x="661475" y="6147197"/>
            <a:ext cx="11478330" cy="214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200" spc="-12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Note: Chaos Studio deployment blocked by subscription policy; controlled VMSS failure used for validation.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08162"/>
            <a:ext cx="10868745" cy="322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spc="-42" kern="0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Azure Resilience Architecture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661475" y="1470323"/>
            <a:ext cx="11478330" cy="1242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spc="-8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Architecture Overview: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673126"/>
            <a:ext cx="7064595" cy="39739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83332"/>
            <a:ext cx="10868745" cy="496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50" spc="-65" kern="0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Infrastructure Implementation</a:t>
            </a:r>
            <a:endParaRPr lang="en-US" sz="3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610122"/>
          <a:ext cx="9143771" cy="914400"/>
        </p:xfrm>
        <a:graphic>
          <a:graphicData uri="http://schemas.openxmlformats.org/drawingml/2006/table">
            <a:tbl>
              <a:tblPr/>
              <a:tblGrid>
                <a:gridCol w="3804061"/>
                <a:gridCol w="7064685"/>
              </a:tblGrid>
              <a:tr h="4457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Resource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Configuration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Resource Group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rg-t087-chaos-resilience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VM Scale Set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vmss-t087-chaos-resilience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Region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East Asia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Availability Zones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1, 2, 3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Instances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3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VM Size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Standard_B2ats_v2 (2 vCPU, 1 GiB RAM)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Load Balancer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lb-t087-chaos-resilience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57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Web Server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Nginx 1.24.0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F91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0090"/>
            <a:ext cx="10868745" cy="496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50" spc="-65" kern="0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Traffic Flow and Health Detection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122263"/>
            <a:ext cx="10868745" cy="396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spc="-52" kern="0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Traffic Path: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767185"/>
            <a:ext cx="3622882" cy="6614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6769" y="2593975"/>
            <a:ext cx="329229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spc="-33" kern="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Client request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357" y="1767185"/>
            <a:ext cx="3622882" cy="6614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49651" y="2593975"/>
            <a:ext cx="3292293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spc="-33" kern="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Public Load Balancer IP (20.239.17.139)</a:t>
            </a:r>
            <a:endParaRPr lang="en-US" sz="16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239" y="1767185"/>
            <a:ext cx="3622882" cy="66149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72533" y="2593975"/>
            <a:ext cx="3292293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spc="-33" kern="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Load Balancer rule (TCP 80 → TCP 80)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3255367"/>
            <a:ext cx="3622882" cy="66149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6769" y="4082157"/>
            <a:ext cx="329229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spc="-33" kern="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Healthy VMSS backend instance</a:t>
            </a:r>
            <a:endParaRPr lang="en-US" sz="16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4357" y="3255367"/>
            <a:ext cx="3622882" cy="661491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449651" y="4082157"/>
            <a:ext cx="329229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spc="-33" kern="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Nginx on port 80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661475" y="4743549"/>
            <a:ext cx="10868745" cy="396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spc="-52" kern="0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Health Probe Configuration:</a:t>
            </a:r>
            <a:endParaRPr lang="en-US" sz="2600" dirty="0"/>
          </a:p>
        </p:txBody>
      </p:sp>
      <p:sp>
        <p:nvSpPr>
          <p:cNvPr id="15" name="Shape 8"/>
          <p:cNvSpPr/>
          <p:nvPr/>
        </p:nvSpPr>
        <p:spPr>
          <a:xfrm>
            <a:off x="661475" y="5388471"/>
            <a:ext cx="10868745" cy="909340"/>
          </a:xfrm>
          <a:prstGeom prst="roundRect">
            <a:avLst>
              <a:gd name="adj" fmla="val 16369"/>
            </a:avLst>
          </a:prstGeom>
          <a:solidFill>
            <a:srgbClr val="5678F0"/>
          </a:solidFill>
          <a:ln/>
        </p:spPr>
        <p:txBody>
          <a:bodyPr/>
          <a:p/>
        </p:txBody>
      </p:sp>
      <p:sp>
        <p:nvSpPr>
          <p:cNvPr id="16" name="Shape 9"/>
          <p:cNvSpPr/>
          <p:nvPr/>
        </p:nvSpPr>
        <p:spPr>
          <a:xfrm>
            <a:off x="661475" y="5388471"/>
            <a:ext cx="3622882" cy="909340"/>
          </a:xfrm>
          <a:custGeom>
            <a:avLst/>
            <a:gdLst/>
            <a:ahLst/>
            <a:cxnLst/>
            <a:rect l="l" t="t" r="r" b="b"/>
            <a:pathLst>
              <a:path w="3622882" h="909340">
                <a:moveTo>
                  <a:pt x="124044" y="0"/>
                </a:moveTo>
                <a:lnTo>
                  <a:pt x="3622882" y="0"/>
                </a:lnTo>
                <a:lnTo>
                  <a:pt x="3622882" y="909340"/>
                </a:lnTo>
                <a:lnTo>
                  <a:pt x="124044" y="909340"/>
                </a:lnTo>
                <a:arcTo hR="124047" wR="124044" stAng="5400000" swAng="5400000"/>
                <a:lnTo>
                  <a:pt x="0" y="124047"/>
                </a:lnTo>
                <a:arcTo hR="124047" wR="124044" stAng="10800000" swAng="5400000"/>
                <a:close/>
              </a:path>
            </a:pathLst>
          </a:custGeom>
          <a:solidFill>
            <a:srgbClr val="5678F0"/>
          </a:solidFill>
          <a:ln/>
        </p:spPr>
        <p:txBody>
          <a:bodyPr/>
          <a:p/>
        </p:txBody>
      </p:sp>
      <p:sp>
        <p:nvSpPr>
          <p:cNvPr id="17" name="Text 10"/>
          <p:cNvSpPr/>
          <p:nvPr/>
        </p:nvSpPr>
        <p:spPr>
          <a:xfrm>
            <a:off x="826769" y="5553770"/>
            <a:ext cx="329229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spc="-33" kern="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Protocol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826769" y="5901035"/>
            <a:ext cx="3292293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spc="-13" kern="0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HTTP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4284357" y="5388471"/>
            <a:ext cx="3622882" cy="909340"/>
          </a:xfrm>
          <a:prstGeom prst="rect">
            <a:avLst/>
          </a:prstGeom>
          <a:solidFill>
            <a:srgbClr val="5678F0"/>
          </a:solidFill>
          <a:ln/>
        </p:spPr>
        <p:txBody>
          <a:bodyPr/>
          <a:p/>
        </p:txBody>
      </p:sp>
      <p:sp>
        <p:nvSpPr>
          <p:cNvPr id="20" name="Shape 13"/>
          <p:cNvSpPr/>
          <p:nvPr/>
        </p:nvSpPr>
        <p:spPr>
          <a:xfrm>
            <a:off x="4284357" y="5388471"/>
            <a:ext cx="19050" cy="909340"/>
          </a:xfrm>
          <a:prstGeom prst="roundRect">
            <a:avLst>
              <a:gd name="adj" fmla="val 49999"/>
            </a:avLst>
          </a:prstGeom>
          <a:solidFill>
            <a:srgbClr val="79B4D7"/>
          </a:solidFill>
          <a:ln/>
        </p:spPr>
        <p:txBody>
          <a:bodyPr/>
          <a:p/>
        </p:txBody>
      </p:sp>
      <p:sp>
        <p:nvSpPr>
          <p:cNvPr id="21" name="Text 14"/>
          <p:cNvSpPr/>
          <p:nvPr/>
        </p:nvSpPr>
        <p:spPr>
          <a:xfrm>
            <a:off x="4449651" y="5553770"/>
            <a:ext cx="329229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spc="-33" kern="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Port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4449651" y="5901035"/>
            <a:ext cx="3292293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spc="-13" kern="0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80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7907239" y="5388471"/>
            <a:ext cx="3622882" cy="909340"/>
          </a:xfrm>
          <a:custGeom>
            <a:avLst/>
            <a:gdLst/>
            <a:ahLst/>
            <a:cxnLst/>
            <a:rect l="l" t="t" r="r" b="b"/>
            <a:pathLst>
              <a:path w="3622882" h="909340">
                <a:moveTo>
                  <a:pt x="0" y="0"/>
                </a:moveTo>
                <a:lnTo>
                  <a:pt x="3498839" y="0"/>
                </a:lnTo>
                <a:arcTo hR="124047" wR="124044" stAng="16200000" swAng="5400000"/>
                <a:lnTo>
                  <a:pt x="3622882" y="785293"/>
                </a:lnTo>
                <a:arcTo hR="124047" wR="124044" stAng="0" swAng="5400000"/>
                <a:lnTo>
                  <a:pt x="0" y="909340"/>
                </a:lnTo>
                <a:lnTo>
                  <a:pt x="0" y="0"/>
                </a:lnTo>
                <a:close/>
              </a:path>
            </a:pathLst>
          </a:custGeom>
          <a:solidFill>
            <a:srgbClr val="5678F0"/>
          </a:solidFill>
          <a:ln/>
        </p:spPr>
        <p:txBody>
          <a:bodyPr/>
          <a:p/>
        </p:txBody>
      </p:sp>
      <p:sp>
        <p:nvSpPr>
          <p:cNvPr id="24" name="Shape 17"/>
          <p:cNvSpPr/>
          <p:nvPr/>
        </p:nvSpPr>
        <p:spPr>
          <a:xfrm>
            <a:off x="7907239" y="5388471"/>
            <a:ext cx="19050" cy="909340"/>
          </a:xfrm>
          <a:prstGeom prst="roundRect">
            <a:avLst>
              <a:gd name="adj" fmla="val 49999"/>
            </a:avLst>
          </a:prstGeom>
          <a:solidFill>
            <a:srgbClr val="7A71C8"/>
          </a:solidFill>
          <a:ln/>
        </p:spPr>
        <p:txBody>
          <a:bodyPr/>
          <a:p/>
        </p:txBody>
      </p:sp>
      <p:sp>
        <p:nvSpPr>
          <p:cNvPr id="25" name="Text 18"/>
          <p:cNvSpPr/>
          <p:nvPr/>
        </p:nvSpPr>
        <p:spPr>
          <a:xfrm>
            <a:off x="8072533" y="5553770"/>
            <a:ext cx="329229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spc="-33" kern="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Path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8072533" y="5901035"/>
            <a:ext cx="3292293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spc="-13" kern="0" dirty="0">
                <a:solidFill>
                  <a:srgbClr val="FFFFFF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/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957388"/>
            <a:ext cx="10868745" cy="496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50" spc="-65" kern="0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Chaos Studio Target Configuration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519561"/>
            <a:ext cx="1086874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spc="-39" kern="0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Target Configuration: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661475" y="3065264"/>
            <a:ext cx="10868745" cy="810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17000"/>
              </a:lnSpc>
              <a:buSzPct val="100000"/>
              <a:buChar char="•"/>
            </a:pPr>
            <a:r>
              <a:rPr lang="en-US" sz="1300" b="1" spc="-13" kern="0" dirty="0">
                <a:solidFill>
                  <a:srgbClr val="30303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Target:</a:t>
            </a:r>
            <a:pPr algn="l" marL="264160" indent="-264160">
              <a:lnSpc>
                <a:spcPct val="117000"/>
              </a:lnSpc>
              <a:buSzPct val="100000"/>
              <a:buChar char="•"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 vmss-t087-chaos-resilience</a:t>
            </a:r>
            <a:endParaRPr lang="en-US" sz="1300" dirty="0"/>
          </a:p>
          <a:p>
            <a:pPr algn="l" marL="264160" indent="-264160">
              <a:lnSpc>
                <a:spcPct val="117000"/>
              </a:lnSpc>
              <a:buSzPct val="100000"/>
              <a:buChar char="•"/>
            </a:pPr>
            <a:r>
              <a:rPr lang="en-US" sz="1300" b="1" spc="-13" kern="0" dirty="0">
                <a:solidFill>
                  <a:srgbClr val="30303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Targeting Mode:</a:t>
            </a:r>
            <a:pPr algn="l" marL="264160" indent="-264160">
              <a:lnSpc>
                <a:spcPct val="117000"/>
              </a:lnSpc>
              <a:buSzPct val="100000"/>
              <a:buChar char="•"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 Service-direct</a:t>
            </a:r>
            <a:endParaRPr lang="en-US" sz="1300" dirty="0"/>
          </a:p>
          <a:p>
            <a:pPr algn="l" marL="264160" indent="-264160">
              <a:lnSpc>
                <a:spcPct val="117000"/>
              </a:lnSpc>
              <a:buSzPct val="100000"/>
              <a:buChar char="•"/>
            </a:pPr>
            <a:r>
              <a:rPr lang="en-US" sz="1300" b="1" spc="-13" kern="0" dirty="0">
                <a:solidFill>
                  <a:srgbClr val="30303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Status:</a:t>
            </a:r>
            <a:pPr algn="l" marL="264160" indent="-264160">
              <a:lnSpc>
                <a:spcPct val="117000"/>
              </a:lnSpc>
              <a:buSzPct val="100000"/>
              <a:buChar char="•"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 Enabled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4123432"/>
            <a:ext cx="1086874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spc="-39" kern="0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Why Service-Direct Targeting: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661475" y="4669135"/>
            <a:ext cx="11478330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Service-direct was used so the VMSS could be enabled as a Chaos Studio target without guest-agent setup.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07765"/>
            <a:ext cx="10868745" cy="496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50" spc="-65" kern="0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Planned Chaos Experiment Configuration</a:t>
            </a:r>
            <a:endParaRPr lang="en-US" sz="3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834555"/>
          <a:ext cx="9143771" cy="914400"/>
        </p:xfrm>
        <a:graphic>
          <a:graphicData uri="http://schemas.openxmlformats.org/drawingml/2006/table">
            <a:tbl>
              <a:tblPr/>
              <a:tblGrid>
                <a:gridCol w="3804061"/>
                <a:gridCol w="7064685"/>
              </a:tblGrid>
              <a:tr h="4457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Experiment Name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exp-t087-zone-failure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48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Fault Type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VMSS Shutdown v2.0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48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Duration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10 minutes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48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Abrupt Shutdown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False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48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Target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vmss-t087-chaos-resilience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48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Scope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Zone 1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489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Identity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System-assigned managed identity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4577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Role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Azure built-in role (Virtual Machine Contributor)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61475" y="2269996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661475" y="2718950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661475" y="3167904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61475" y="3616857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661475" y="4065811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61475" y="4514765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61475" y="4963718"/>
            <a:ext cx="10868745" cy="1033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61475" y="5618659"/>
            <a:ext cx="11478330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Scoped to Zone 1 to limit blast radius. </a:t>
            </a:r>
            <a:pPr algn="l" indent="0" marL="0">
              <a:lnSpc>
                <a:spcPct val="117000"/>
              </a:lnSpc>
              <a:buNone/>
            </a:pPr>
            <a:r>
              <a:rPr lang="en-US" sz="1300" b="1" spc="-13" kern="0" dirty="0">
                <a:solidFill>
                  <a:srgbClr val="30303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CONFIGURED/PLANNED — NOT EXECUTED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0075"/>
            <a:ext cx="10868745" cy="396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spc="-52" kern="0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Chaos Studio Deployment Constraint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8389" y="1208584"/>
            <a:ext cx="8694917" cy="34301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01036" y="2396557"/>
            <a:ext cx="1729666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spc="-30" kern="0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Initiation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3101036" y="2689418"/>
            <a:ext cx="1729666" cy="338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150" spc="-14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Start deployment request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251418" y="2988293"/>
            <a:ext cx="1729666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spc="-30" kern="0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Validation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251418" y="3281154"/>
            <a:ext cx="1729666" cy="16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150" spc="-14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Check region policy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426902" y="2396557"/>
            <a:ext cx="1729666" cy="225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spc="-30" kern="0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Blocking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426902" y="2689418"/>
            <a:ext cx="1729666" cy="16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1150" spc="-14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East US denied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61475" y="4797524"/>
            <a:ext cx="1086874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spc="-31" kern="0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Policy Details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61475" y="5194399"/>
            <a:ext cx="10868745" cy="777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05000"/>
              </a:lnSpc>
              <a:buSzPct val="100000"/>
              <a:buChar char="•"/>
            </a:pPr>
            <a:r>
              <a:rPr lang="en-US" sz="1000" b="1" spc="-10" kern="0" dirty="0">
                <a:solidFill>
                  <a:srgbClr val="30303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Policy:</a:t>
            </a:r>
            <a:pPr algn="l" marL="203200" indent="-203200">
              <a:lnSpc>
                <a:spcPct val="105000"/>
              </a:lnSpc>
              <a:buSzPct val="100000"/>
              <a:buChar char="•"/>
            </a:pPr>
            <a:r>
              <a:rPr lang="en-US" sz="1000" spc="-10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 Allowed resource deployment regions</a:t>
            </a:r>
            <a:endParaRPr lang="en-US" sz="1000" dirty="0"/>
          </a:p>
          <a:p>
            <a:pPr algn="l" marL="203200" indent="-203200">
              <a:lnSpc>
                <a:spcPct val="105000"/>
              </a:lnSpc>
              <a:buSzPct val="100000"/>
              <a:buChar char="•"/>
            </a:pPr>
            <a:r>
              <a:rPr lang="en-US" sz="1000" b="1" spc="-10" kern="0" dirty="0">
                <a:solidFill>
                  <a:srgbClr val="30303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Assignment:</a:t>
            </a:r>
            <a:pPr algn="l" marL="203200" indent="-203200">
              <a:lnSpc>
                <a:spcPct val="105000"/>
              </a:lnSpc>
              <a:buSzPct val="100000"/>
              <a:buChar char="•"/>
            </a:pPr>
            <a:r>
              <a:rPr lang="en-US" sz="1000" spc="-10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 sys.regionrestriction</a:t>
            </a:r>
            <a:endParaRPr lang="en-US" sz="1000" dirty="0"/>
          </a:p>
          <a:p>
            <a:pPr algn="l" marL="203200" indent="-203200">
              <a:lnSpc>
                <a:spcPct val="105000"/>
              </a:lnSpc>
              <a:buSzPct val="100000"/>
              <a:buChar char="•"/>
            </a:pPr>
            <a:r>
              <a:rPr lang="en-US" sz="1000" b="1" spc="-10" kern="0" dirty="0">
                <a:solidFill>
                  <a:srgbClr val="30303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Attempted Location:</a:t>
            </a:r>
            <a:pPr algn="l" marL="203200" indent="-203200">
              <a:lnSpc>
                <a:spcPct val="105000"/>
              </a:lnSpc>
              <a:buSzPct val="100000"/>
              <a:buChar char="•"/>
            </a:pPr>
            <a:r>
              <a:rPr lang="en-US" sz="1000" spc="-10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 East US</a:t>
            </a:r>
            <a:endParaRPr lang="en-US" sz="1000" dirty="0"/>
          </a:p>
          <a:p>
            <a:pPr algn="l" marL="203200" indent="-203200">
              <a:lnSpc>
                <a:spcPct val="105000"/>
              </a:lnSpc>
              <a:buSzPct val="100000"/>
              <a:buChar char="•"/>
            </a:pPr>
            <a:r>
              <a:rPr lang="en-US" sz="1000" b="1" spc="-10" kern="0" dirty="0">
                <a:solidFill>
                  <a:srgbClr val="30303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Effect:</a:t>
            </a:r>
            <a:pPr algn="l" marL="203200" indent="-203200">
              <a:lnSpc>
                <a:spcPct val="105000"/>
              </a:lnSpc>
              <a:buSzPct val="100000"/>
              <a:buChar char="•"/>
            </a:pPr>
            <a:r>
              <a:rPr lang="en-US" sz="1000" spc="-10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 Deny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61475" y="6091238"/>
            <a:ext cx="11478330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spc="-10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Environment constraint discovered during implementation, not a team failure.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975"/>
            <a:ext cx="10868745" cy="496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50" spc="-65" kern="0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Controlled Failure Validation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88765"/>
            <a:ext cx="10868745" cy="462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b="1" spc="-13" kern="0" dirty="0">
                <a:solidFill>
                  <a:srgbClr val="30303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Test methodology:</a:t>
            </a:r>
            <a:pPr algn="l" indent="0" marL="0">
              <a:lnSpc>
                <a:spcPct val="117000"/>
              </a:lnSpc>
              <a:buNone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 Because Chaos Studio deployment was blocked by subscription policy, we validated resilience with a controlled VMSS instance failure.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037755"/>
            <a:ext cx="33068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-26" kern="0" dirty="0">
                <a:solidFill>
                  <a:srgbClr val="303030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2291457"/>
            <a:ext cx="3512653" cy="19050"/>
          </a:xfrm>
          <a:prstGeom prst="rect">
            <a:avLst/>
          </a:prstGeom>
          <a:solidFill>
            <a:srgbClr val="5678F0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61475" y="2412206"/>
            <a:ext cx="351265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spc="-33" kern="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Baseline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1475" y="2759472"/>
            <a:ext cx="3512653" cy="562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20 HTTP requests to Load Balancer IP</a:t>
            </a:r>
            <a:endParaRPr lang="en-US" sz="13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300" b="1" spc="-13" kern="0" dirty="0">
                <a:solidFill>
                  <a:srgbClr val="30303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Result:</a:t>
            </a:r>
            <a:pPr algn="l" indent="0" marL="0">
              <a:lnSpc>
                <a:spcPct val="117000"/>
              </a:lnSpc>
              <a:buNone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 20/20 HTTP 200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39422" y="2037755"/>
            <a:ext cx="33068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-26" kern="0" dirty="0">
                <a:solidFill>
                  <a:srgbClr val="303030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39422" y="2291457"/>
            <a:ext cx="3512752" cy="19050"/>
          </a:xfrm>
          <a:prstGeom prst="rect">
            <a:avLst/>
          </a:prstGeom>
          <a:solidFill>
            <a:srgbClr val="93CEF1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339422" y="2412206"/>
            <a:ext cx="3512752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spc="-33" kern="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Controlled Failure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39422" y="2759472"/>
            <a:ext cx="3512752" cy="1025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Deallocated VMSS Instance 0 (Zone 1)</a:t>
            </a:r>
            <a:endParaRPr lang="en-US" sz="13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300" b="1" spc="-13" kern="0" dirty="0">
                <a:solidFill>
                  <a:srgbClr val="30303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Command:</a:t>
            </a:r>
            <a:pPr algn="l" indent="0" marL="0">
              <a:lnSpc>
                <a:spcPct val="117000"/>
              </a:lnSpc>
              <a:buNone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 </a:t>
            </a:r>
            <a:pPr algn="l" indent="0" marL="0">
              <a:lnSpc>
                <a:spcPct val="117000"/>
              </a:lnSpc>
              <a:buNone/>
            </a:pPr>
            <a:r>
              <a:rPr lang="en-US" sz="1300" spc="-13" kern="0" dirty="0">
                <a:solidFill>
                  <a:srgbClr val="303030"/>
                </a:solidFill>
                <a:highlight>
                  <a:srgbClr val="E8E8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az vmss deallocate --resource-group rg-t087-chaos-resilience --name vmss-t087-chaos-resilience --instance-ids 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17468" y="2037755"/>
            <a:ext cx="33068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-26" kern="0" dirty="0">
                <a:solidFill>
                  <a:srgbClr val="303030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17468" y="2291457"/>
            <a:ext cx="3512653" cy="19050"/>
          </a:xfrm>
          <a:prstGeom prst="rect">
            <a:avLst/>
          </a:prstGeom>
          <a:solidFill>
            <a:srgbClr val="948BE2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017468" y="2412206"/>
            <a:ext cx="351265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spc="-33" kern="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Traffic Validation During Failure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017468" y="2759472"/>
            <a:ext cx="3512653" cy="562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20 HTTP requests to Load Balancer IP</a:t>
            </a:r>
            <a:endParaRPr lang="en-US" sz="13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300" b="1" spc="-13" kern="0" dirty="0">
                <a:solidFill>
                  <a:srgbClr val="30303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Result:</a:t>
            </a:r>
            <a:pPr algn="l" indent="0" marL="0">
              <a:lnSpc>
                <a:spcPct val="117000"/>
              </a:lnSpc>
              <a:buNone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 20/20 HTTP 200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1475" y="4073922"/>
            <a:ext cx="33068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-26" kern="0" dirty="0">
                <a:solidFill>
                  <a:srgbClr val="303030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61475" y="4327624"/>
            <a:ext cx="5351626" cy="19050"/>
          </a:xfrm>
          <a:prstGeom prst="rect">
            <a:avLst/>
          </a:prstGeom>
          <a:solidFill>
            <a:srgbClr val="F1F1F1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61475" y="4448373"/>
            <a:ext cx="5351626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spc="-33" kern="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Recovery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1475" y="4795639"/>
            <a:ext cx="5351626" cy="562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Started VMSS Instance 0</a:t>
            </a:r>
            <a:endParaRPr lang="en-US" sz="13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300" b="1" spc="-13" kern="0" dirty="0">
                <a:solidFill>
                  <a:srgbClr val="30303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Result:</a:t>
            </a:r>
            <a:pPr algn="l" indent="0" marL="0">
              <a:lnSpc>
                <a:spcPct val="117000"/>
              </a:lnSpc>
              <a:buNone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 All three instances running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8395" y="4073922"/>
            <a:ext cx="33068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-26" kern="0" dirty="0">
                <a:solidFill>
                  <a:srgbClr val="303030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05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8395" y="4327624"/>
            <a:ext cx="5351725" cy="19050"/>
          </a:xfrm>
          <a:prstGeom prst="rect">
            <a:avLst/>
          </a:prstGeom>
          <a:solidFill>
            <a:srgbClr val="5678F0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178395" y="4448373"/>
            <a:ext cx="5351725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spc="-33" kern="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Post-Recovery Validation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178395" y="4795639"/>
            <a:ext cx="5351725" cy="562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750"/>
              </a:spcAft>
              <a:buNone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20 HTTP requests to Load Balancer IP</a:t>
            </a:r>
            <a:endParaRPr lang="en-US" sz="13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300" b="1" spc="-13" kern="0" dirty="0">
                <a:solidFill>
                  <a:srgbClr val="30303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Result:</a:t>
            </a:r>
            <a:pPr algn="l" indent="0" marL="0">
              <a:lnSpc>
                <a:spcPct val="117000"/>
              </a:lnSpc>
              <a:buNone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 20/20 HTTP 200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1475" y="5667871"/>
            <a:ext cx="10868745" cy="628154"/>
          </a:xfrm>
          <a:prstGeom prst="roundRect">
            <a:avLst>
              <a:gd name="adj" fmla="val 23697"/>
            </a:avLst>
          </a:prstGeom>
          <a:solidFill>
            <a:srgbClr val="D3EAF8"/>
          </a:solidFill>
          <a:ln/>
        </p:spPr>
        <p:txBody>
          <a:bodyPr/>
          <a:p/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769" y="5888534"/>
            <a:ext cx="206667" cy="16529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198731" y="5874445"/>
            <a:ext cx="10775780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spc="-13" kern="0" dirty="0">
                <a:solidFill>
                  <a:srgbClr val="00000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Note: This simulates an instance-level failure, not an entire Azure availability zone failure.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82018"/>
            <a:ext cx="10868745" cy="496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50" spc="-65" kern="0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Experimental Results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208808"/>
            <a:ext cx="11478330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Results Summary: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626320"/>
          <a:ext cx="9143771" cy="914400"/>
        </p:xfrm>
        <a:graphic>
          <a:graphicData uri="http://schemas.openxmlformats.org/drawingml/2006/table">
            <a:tbl>
              <a:tblPr/>
              <a:tblGrid>
                <a:gridCol w="3622915"/>
                <a:gridCol w="3622915"/>
                <a:gridCol w="3622915"/>
              </a:tblGrid>
              <a:tr h="442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Test Stage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Infrastructure State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HTTP Result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42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Baseline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3 instances running (Zones 1, 2, 3)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20/20 HTTP 200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674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During Controlled Failure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Zone 1 instance deallocated; Zones 2 &amp; 3 running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20/20 HTTP 200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426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After Recovery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All 3 instances running (Zones 1, 2, 3)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spc="-13" kern="0" dirty="0">
                          <a:solidFill>
                            <a:srgbClr val="303030"/>
                          </a:solidFill>
                          <a:latin typeface="Mona Sans" pitchFamily="34" charset="0"/>
                          <a:ea typeface="Mona Sans" pitchFamily="34" charset="-122"/>
                          <a:cs typeface="Mona Sans" pitchFamily="34" charset="-120"/>
                        </a:rPr>
                        <a:t>20/20 HTTP 200</a:t>
                      </a:r>
                      <a:endParaRPr lang="en-US" sz="1300" dirty="0">
                        <a:latin typeface="Mona Sans" charset="0"/>
                        <a:ea typeface="Mona Sans" charset="0"/>
                        <a:cs typeface="Mona Sans" charset="0"/>
                      </a:endParaRPr>
                    </a:p>
                  </a:txBody>
                  <a:tcPr marL="165391" marR="165391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61475" y="4826992"/>
            <a:ext cx="10868745" cy="648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450"/>
              </a:spcAft>
              <a:buNone/>
            </a:pPr>
            <a:r>
              <a:rPr lang="en-US" sz="1300" b="1" spc="-13" kern="0" dirty="0">
                <a:solidFill>
                  <a:srgbClr val="30303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Key Observation:</a:t>
            </a:r>
            <a:pPr algn="l" indent="0" marL="0">
              <a:lnSpc>
                <a:spcPct val="117000"/>
              </a:lnSpc>
              <a:spcAft>
                <a:spcPts val="1450"/>
              </a:spcAft>
              <a:buNone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 The Load Balancer continued serving HTTP traffic when the Zone 1-associated VMSS instance was deallocated.</a:t>
            </a:r>
            <a:endParaRPr lang="en-US" sz="13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300" b="1" spc="-13" kern="0" dirty="0">
                <a:solidFill>
                  <a:srgbClr val="303030"/>
                </a:solidFill>
                <a:latin typeface="Mona Sans Bold" pitchFamily="34" charset="0"/>
                <a:ea typeface="Mona Sans Bold" pitchFamily="34" charset="-122"/>
                <a:cs typeface="Mona Sans Bold" pitchFamily="34" charset="-120"/>
              </a:rPr>
              <a:t>Note:</a:t>
            </a:r>
            <a:pPr algn="l" indent="0" marL="0">
              <a:lnSpc>
                <a:spcPct val="117000"/>
              </a:lnSpc>
              <a:buNone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 These are 20 sampled HTTP requests per stage.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8412"/>
            <a:ext cx="10868745" cy="421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50" spc="-55" kern="0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What the Results Demonstrate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937816"/>
            <a:ext cx="10868745" cy="337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spc="-44" kern="0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Key Findings: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61475" y="1322884"/>
            <a:ext cx="10868745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spc="-33" kern="0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Finding 1: Load Balancer Continuity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61475" y="1755080"/>
            <a:ext cx="11478330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-11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Load Balancer traffic continued during the Zone 1 VMSS deallocation.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61475" y="2116336"/>
            <a:ext cx="10868745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spc="-33" kern="0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Finding 2: Multi-Zone Redundancy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61475" y="2548533"/>
            <a:ext cx="11478330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-11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Zones 2 and 3 continued serving traffic without interruption.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1475" y="2909788"/>
            <a:ext cx="10868745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spc="-33" kern="0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Finding 3: Successful Recovery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61475" y="3341985"/>
            <a:ext cx="11478330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-11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The failed instance was restarted successfully with Azure CLI.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1475" y="3703241"/>
            <a:ext cx="10868745" cy="253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spc="-33" kern="0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Finding 4: Post-Recovery Validation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61475" y="4135437"/>
            <a:ext cx="11478330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-11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Post-recovery testing again returned 20/20 HTTP 200 responses.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1475" y="4496693"/>
            <a:ext cx="10868745" cy="337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spc="-44" kern="0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Conclusion: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61475" y="5013226"/>
            <a:ext cx="11478330" cy="182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100" spc="-11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The architecture demonstrated service continuity under the controlled instance-failure scenario.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1475" y="5374481"/>
            <a:ext cx="10868745" cy="337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spc="-44" kern="0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Scope of Evidence: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1475" y="5891014"/>
            <a:ext cx="10868745" cy="498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1050"/>
              </a:spcAft>
              <a:buNone/>
            </a:pPr>
            <a:r>
              <a:rPr lang="en-US" sz="1100" spc="-11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This evidence applies to the controlled VMSS instance failure tested in this project and validates the multi-zone redundancy design at the VMSS instance level.</a:t>
            </a:r>
            <a:endParaRPr lang="en-US" sz="11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100" i="1" spc="-11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Note: This is a targeted test of the specific failure scenario, not a full SLA or all-zone resilience validation.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10729"/>
            <a:ext cx="10868745" cy="496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50" spc="-65" kern="0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Team Contributions</a:t>
            </a:r>
            <a:endParaRPr lang="en-US" sz="3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737519"/>
            <a:ext cx="5351725" cy="202217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13317" y="1855788"/>
            <a:ext cx="24804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spc="-39" kern="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1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845819" y="2417961"/>
            <a:ext cx="498303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spc="-33" kern="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Gurrala Hareesh Reddy (2400090155)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45819" y="2765227"/>
            <a:ext cx="4983038" cy="810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17000"/>
              </a:lnSpc>
              <a:buSzPct val="100000"/>
              <a:buChar char="•"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Overall architecture and project coordination</a:t>
            </a:r>
            <a:endParaRPr lang="en-US" sz="1300" dirty="0"/>
          </a:p>
          <a:p>
            <a:pPr algn="l" marL="264160" indent="-264160">
              <a:lnSpc>
                <a:spcPct val="117000"/>
              </a:lnSpc>
              <a:buSzPct val="100000"/>
              <a:buChar char="•"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Azure infrastructure design and resilience validation</a:t>
            </a:r>
            <a:endParaRPr lang="en-US" sz="1300" dirty="0"/>
          </a:p>
          <a:p>
            <a:pPr algn="l" marL="264160" indent="-264160">
              <a:lnSpc>
                <a:spcPct val="117000"/>
              </a:lnSpc>
              <a:buSzPct val="100000"/>
              <a:buChar char="•"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Experiment planning and final integration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8495" y="1737519"/>
            <a:ext cx="5351725" cy="202217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30337" y="1855788"/>
            <a:ext cx="24804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spc="-39" kern="0" dirty="0">
                <a:solidFill>
                  <a:srgbClr val="00000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2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6362838" y="2417961"/>
            <a:ext cx="498303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spc="-33" kern="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Namathoti Nandu (2400090190)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362838" y="2765227"/>
            <a:ext cx="4983038" cy="810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17000"/>
              </a:lnSpc>
              <a:buSzPct val="100000"/>
              <a:buChar char="•"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VMSS and Load Balancer deployment</a:t>
            </a:r>
            <a:endParaRPr lang="en-US" sz="1300" dirty="0"/>
          </a:p>
          <a:p>
            <a:pPr algn="l" marL="264160" indent="-264160">
              <a:lnSpc>
                <a:spcPct val="117000"/>
              </a:lnSpc>
              <a:buSzPct val="100000"/>
              <a:buChar char="•"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Nginx configuration and health probe setup</a:t>
            </a:r>
            <a:endParaRPr lang="en-US" sz="1300" dirty="0"/>
          </a:p>
          <a:p>
            <a:pPr algn="l" marL="264160" indent="-264160">
              <a:lnSpc>
                <a:spcPct val="117000"/>
              </a:lnSpc>
              <a:buSzPct val="100000"/>
              <a:buChar char="•"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Networking troubleshooting and validation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924995"/>
            <a:ext cx="5351725" cy="202217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213317" y="4043263"/>
            <a:ext cx="24804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spc="-39" kern="0" dirty="0">
                <a:solidFill>
                  <a:srgbClr val="00000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3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845819" y="4605437"/>
            <a:ext cx="498303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spc="-33" kern="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Alamalakala Sneha (2400090174)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45819" y="4952702"/>
            <a:ext cx="4983038" cy="810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17000"/>
              </a:lnSpc>
              <a:buSzPct val="100000"/>
              <a:buChar char="•"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Monitoring and evidence collection setup</a:t>
            </a:r>
            <a:endParaRPr lang="en-US" sz="1300" dirty="0"/>
          </a:p>
          <a:p>
            <a:pPr algn="l" marL="264160" indent="-264160">
              <a:lnSpc>
                <a:spcPct val="117000"/>
              </a:lnSpc>
              <a:buSzPct val="100000"/>
              <a:buChar char="•"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Baseline/failure/recovery validation</a:t>
            </a:r>
            <a:endParaRPr lang="en-US" sz="1300" dirty="0"/>
          </a:p>
          <a:p>
            <a:pPr algn="l" marL="264160" indent="-264160">
              <a:lnSpc>
                <a:spcPct val="117000"/>
              </a:lnSpc>
              <a:buSzPct val="100000"/>
              <a:buChar char="•"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HTTP test documentation and analysis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8495" y="3924995"/>
            <a:ext cx="5351725" cy="202217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30337" y="4043263"/>
            <a:ext cx="248041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spc="-39" kern="0" dirty="0">
                <a:solidFill>
                  <a:srgbClr val="00000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4</a:t>
            </a:r>
            <a:endParaRPr lang="en-US" sz="1950" dirty="0"/>
          </a:p>
        </p:txBody>
      </p:sp>
      <p:sp>
        <p:nvSpPr>
          <p:cNvPr id="17" name="Text 11"/>
          <p:cNvSpPr/>
          <p:nvPr/>
        </p:nvSpPr>
        <p:spPr>
          <a:xfrm>
            <a:off x="6362838" y="4605437"/>
            <a:ext cx="4983038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spc="-33" kern="0" dirty="0">
                <a:solidFill>
                  <a:srgbClr val="30303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Rao Rupesh Sai (2400090150)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6362838" y="4952702"/>
            <a:ext cx="4983038" cy="810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17000"/>
              </a:lnSpc>
              <a:buSzPct val="100000"/>
              <a:buChar char="•"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Chaos Studio investigation and research</a:t>
            </a:r>
            <a:endParaRPr lang="en-US" sz="1300" dirty="0"/>
          </a:p>
          <a:p>
            <a:pPr algn="l" marL="264160" indent="-264160">
              <a:lnSpc>
                <a:spcPct val="117000"/>
              </a:lnSpc>
              <a:buSzPct val="100000"/>
              <a:buChar char="•"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Service-direct onboarding and configuration</a:t>
            </a:r>
            <a:endParaRPr lang="en-US" sz="1300" dirty="0"/>
          </a:p>
          <a:p>
            <a:pPr algn="l" marL="264160" indent="-264160">
              <a:lnSpc>
                <a:spcPct val="117000"/>
              </a:lnSpc>
              <a:buSzPct val="100000"/>
              <a:buChar char="•"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Experiment design and policy investigation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64518"/>
            <a:ext cx="10868745" cy="496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50" spc="-65" kern="0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Conclusion &amp; Next Step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626691"/>
            <a:ext cx="10868745" cy="396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spc="-52" kern="0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Project Summary: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61475" y="2271613"/>
            <a:ext cx="10868745" cy="13887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17000"/>
              </a:lnSpc>
              <a:buSzPct val="100000"/>
              <a:buChar char="•"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A three-zone VMSS architecture was implemented behind an Azure Load Balancer</a:t>
            </a:r>
            <a:endParaRPr lang="en-US" sz="1300" dirty="0"/>
          </a:p>
          <a:p>
            <a:pPr algn="l" marL="264160" indent="-264160">
              <a:lnSpc>
                <a:spcPct val="117000"/>
              </a:lnSpc>
              <a:buSzPct val="100000"/>
              <a:buChar char="•"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Chaos Studio target onboarding was completed successfully</a:t>
            </a:r>
            <a:endParaRPr lang="en-US" sz="1300" dirty="0"/>
          </a:p>
          <a:p>
            <a:pPr algn="l" marL="264160" indent="-264160">
              <a:lnSpc>
                <a:spcPct val="117000"/>
              </a:lnSpc>
              <a:buSzPct val="100000"/>
              <a:buChar char="•"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The planned VMSS Shutdown experiment was configured with controlled Zone 1 scope</a:t>
            </a:r>
            <a:endParaRPr lang="en-US" sz="1300" dirty="0"/>
          </a:p>
          <a:p>
            <a:pPr algn="l" marL="264160" indent="-264160">
              <a:lnSpc>
                <a:spcPct val="117000"/>
              </a:lnSpc>
              <a:buSzPct val="100000"/>
              <a:buChar char="•"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20/20 sampled HTTP requests returned HTTP 200 during the tested failure</a:t>
            </a:r>
            <a:endParaRPr lang="en-US" sz="1300" dirty="0"/>
          </a:p>
          <a:p>
            <a:pPr algn="l" marL="264160" indent="-264160">
              <a:lnSpc>
                <a:spcPct val="117000"/>
              </a:lnSpc>
              <a:buSzPct val="100000"/>
              <a:buChar char="•"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Recovery was verified after restarting the failed instance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3908425"/>
            <a:ext cx="10868745" cy="396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spc="-52" kern="0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Next Step: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61475" y="4553347"/>
            <a:ext cx="11478330" cy="231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300" spc="-13" kern="0" dirty="0">
                <a:solidFill>
                  <a:srgbClr val="303030"/>
                </a:solidFill>
                <a:latin typeface="Mona Sans" pitchFamily="34" charset="0"/>
                <a:ea typeface="Mona Sans" pitchFamily="34" charset="-122"/>
                <a:cs typeface="Mona Sans" pitchFamily="34" charset="-120"/>
              </a:rPr>
              <a:t>Run the Chaos Studio experiment in a permitted environment or region.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1475" y="5032871"/>
            <a:ext cx="10868745" cy="396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spc="-52" kern="0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Final Statement: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61475" y="5495826"/>
            <a:ext cx="1086874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50" spc="-39" kern="0" dirty="0">
                <a:solidFill>
                  <a:srgbClr val="5678F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Controlled failure. Measured behavior. Evidence-based resilience validation.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2026-09-26T18:19:34Z</dcterms:created>
  <dcterms:modified xsi:type="dcterms:W3CDTF">2026-09-26T18:19:34Z</dcterms:modified>
</cp:coreProperties>
</file>